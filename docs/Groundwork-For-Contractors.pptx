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6B6B"/>
                </a:solidFill>
                <a:latin typeface="Arial"/>
              </a:rPr>
              <a:t>FOR CONTRACTORS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You're great at what you do.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The system around you is broken.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B6B6B"/>
                </a:solidFill>
                <a:latin typeface="Arial"/>
              </a:rPr>
              <a:t>Unclear scope. Payments 'handled later'. Projects that stall because nobody is coordinating the sequence.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6B6B"/>
                </a:solidFill>
                <a:latin typeface="Arial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Groundwork is not a job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B6B6B"/>
                </a:solidFill>
                <a:latin typeface="Arial"/>
              </a:rPr>
              <a:t>It is controlled infrastructure for executing diaspora building projects properly — with the right professionals, in the right sequence, with the right safeguards.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6B6B"/>
                </a:solidFill>
                <a:latin typeface="Arial"/>
              </a:rPr>
              <a:t>WHAT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Scope is agreed before you start.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Payment is held before you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B6B6B"/>
                </a:solidFill>
                <a:latin typeface="Arial"/>
              </a:rPr>
              <a:t>The client funds each stage up front. Jalla verifies the work. The money is released against evidence, not against a phone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A0A0A"/>
                </a:solidFill>
                <a:latin typeface="Arial"/>
              </a:rPr>
              <a:t>A client scopes the build before you are called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6B6B"/>
                </a:solidFill>
                <a:latin typeface="Arial"/>
              </a:rPr>
              <a:t>Eleven steps: location, building type, floors, rooms, roof, finish. The budget is measured from quantities at your city's rates — not a guess per square metre.</a:t>
            </a:r>
          </a:p>
        </p:txBody>
      </p:sp>
      <p:pic>
        <p:nvPicPr>
          <p:cNvPr id="4" name="Picture 3" descr="05_wiz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28775"/>
            <a:ext cx="6400800" cy="2964815"/>
          </a:xfrm>
          <a:prstGeom prst="rect">
            <a:avLst/>
          </a:prstGeom>
          <a:ln w="9525">
            <a:solidFill>
              <a:srgbClr val="E3E3E3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A0A0A"/>
                </a:solidFill>
                <a:latin typeface="Arial"/>
              </a:rPr>
              <a:t>Every project arrives already costed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6B6B"/>
                </a:solidFill>
                <a:latin typeface="Arial"/>
              </a:rPr>
              <a:t>Construction, design, professional and permit, itemised. You are quoting against a figure the client has already accepted.</a:t>
            </a:r>
          </a:p>
        </p:txBody>
      </p:sp>
      <p:pic>
        <p:nvPicPr>
          <p:cNvPr id="4" name="Picture 3" descr="06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28775"/>
            <a:ext cx="6400800" cy="2964815"/>
          </a:xfrm>
          <a:prstGeom prst="rect">
            <a:avLst/>
          </a:prstGeom>
          <a:ln w="9525">
            <a:solidFill>
              <a:srgbClr val="E3E3E3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A0A0A"/>
                </a:solidFill>
                <a:latin typeface="Arial"/>
              </a:rPr>
              <a:t>Ten stages, each with its own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6B6B"/>
                </a:solidFill>
                <a:latin typeface="Arial"/>
              </a:rPr>
              <a:t>Land, design, site prep, foundation, structure, roofing, services, finishing, exterior, handover. Everyone can see where the build actually is.</a:t>
            </a:r>
          </a:p>
        </p:txBody>
      </p:sp>
      <p:pic>
        <p:nvPicPr>
          <p:cNvPr id="4" name="Picture 3" descr="07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28775"/>
            <a:ext cx="6400800" cy="2964815"/>
          </a:xfrm>
          <a:prstGeom prst="rect">
            <a:avLst/>
          </a:prstGeom>
          <a:ln w="9525">
            <a:solidFill>
              <a:srgbClr val="E3E3E3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A0A0A"/>
                </a:solidFill>
                <a:latin typeface="Arial"/>
              </a:rPr>
              <a:t>The money is already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6B6B"/>
                </a:solidFill>
                <a:latin typeface="Arial"/>
              </a:rPr>
              <a:t>Funds sit in escrow against the stage schedule. Complete the stage, submit the evidence, the payment is released. No chasing.</a:t>
            </a:r>
          </a:p>
        </p:txBody>
      </p:sp>
      <p:pic>
        <p:nvPicPr>
          <p:cNvPr id="4" name="Picture 3" descr="08_pay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28775"/>
            <a:ext cx="6400800" cy="2964815"/>
          </a:xfrm>
          <a:prstGeom prst="rect">
            <a:avLst/>
          </a:prstGeom>
          <a:ln w="9525">
            <a:solidFill>
              <a:srgbClr val="E3E3E3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A0A0A"/>
                </a:solidFill>
                <a:latin typeface="Arial"/>
              </a:rPr>
              <a:t>First in gets the best 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546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B6B6B"/>
                </a:solidFill>
                <a:latin typeface="Arial"/>
              </a:rPr>
              <a:t>We are onboarding a limited number of partners per trade, per region. The application takes about three minutes: your details, your credentials, and three past projects with references.</a:t>
            </a:r>
          </a:p>
        </p:txBody>
      </p:sp>
      <p:pic>
        <p:nvPicPr>
          <p:cNvPr id="4" name="Picture 3" descr="03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628775"/>
            <a:ext cx="6400800" cy="2964815"/>
          </a:xfrm>
          <a:prstGeom prst="rect">
            <a:avLst/>
          </a:prstGeom>
          <a:ln w="9525">
            <a:solidFill>
              <a:srgbClr val="E3E3E3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B6B6B"/>
                </a:solidFill>
                <a:latin typeface="Arial"/>
              </a:rPr>
              <a:t>HOW TO JOIN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A0A0A"/>
                </a:solidFill>
                <a:latin typeface="Arial"/>
              </a:rPr>
              <a:t>Apply to be a founding contractor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457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6B6B6B"/>
                </a:solidFill>
                <a:latin typeface="Arial"/>
              </a:rPr>
              <a:t>tryjalla.com/contractor-apply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