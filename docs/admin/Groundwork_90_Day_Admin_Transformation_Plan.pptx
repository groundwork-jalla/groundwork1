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74E8"/>
                </a:solidFill>
                <a:latin typeface="Aptos"/>
              </a:rPr>
              <a:t>GROUNDWORK BY JALLA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D30"/>
                </a:solidFill>
                <a:latin typeface="Aptos"/>
              </a:rPr>
              <a:t>90-Day Admin Platform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F6C7D"/>
                </a:solidFill>
                <a:latin typeface="Aptos"/>
              </a:rPr>
              <a:t>Turning the Groundwork admin into the operational control center required to run hundreds of active construction projects end to 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10698480" cy="1508760"/>
          </a:xfrm>
          <a:prstGeom prst="roundRect">
            <a:avLst/>
          </a:prstGeom>
          <a:solidFill>
            <a:srgbClr val="111D30"/>
          </a:solidFill>
          <a:ln>
            <a:solidFill>
              <a:srgbClr val="11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224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7B9FF"/>
                </a:solidFill>
                <a:latin typeface="Aptos"/>
              </a:rPr>
              <a:t>90-DAY OKR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68172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Ensure hundreds of existing active projects are fully operational on Groundwork — with project setup, milestone tracking, verification evidence, updates and payment workflows functioning end to 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Presentation • September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GROUNDWORK • ADMIN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D30"/>
                </a:solidFill>
                <a:latin typeface="Aptos"/>
              </a:rPr>
              <a:t>Why the Admin Is Critical to the 90-Day OKR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C7D"/>
                </a:solidFill>
                <a:latin typeface="Aptos"/>
              </a:rPr>
              <a:t>The goal is operational readiness, not simply a visual redesign.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134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677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Projects need a complete operational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2585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C7D"/>
                </a:solidFill>
                <a:latin typeface="Aptos"/>
              </a:rPr>
              <a:t>Setup, milestones, budgets, evidence, updates, inspections and payments must connect.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735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27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Communication needs project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21868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C7D"/>
                </a:solidFill>
                <a:latin typeface="Aptos"/>
              </a:rPr>
              <a:t>GHL-powered WhatsApp, email and calls need to resolve to the right person and project.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3367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879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Operations needs one action 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17880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C7D"/>
                </a:solidFill>
                <a:latin typeface="Aptos"/>
              </a:rPr>
              <a:t>Reviews, approvals, messages, inspections, applications and issues should surface in one place.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2920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9379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1480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Existing modules need to work together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513892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C7D"/>
                </a:solidFill>
                <a:latin typeface="Aptos"/>
              </a:rPr>
              <a:t>Projects, Reviews, Budgets, Applications, Contractors and Support become connected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GROUNDWORK • ADMIN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D30"/>
                </a:solidFill>
                <a:latin typeface="Aptos"/>
              </a:rPr>
              <a:t>Information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C7D"/>
                </a:solidFill>
                <a:latin typeface="Aptos"/>
              </a:rPr>
              <a:t>Two central concepts organize the admin: Project Workspace + Unified Inbox.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057400"/>
            <a:ext cx="2971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D30"/>
                </a:solidFill>
                <a:latin typeface="Aptos"/>
              </a:rPr>
              <a:t>What is happening across Groundwork?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05740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Portfolio metrics • health • pipeline • attention •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52344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6207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ACTION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843784"/>
            <a:ext cx="2971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D30"/>
                </a:solidFill>
                <a:latin typeface="Aptos"/>
              </a:rPr>
              <a:t>What needs human action?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84378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Approvals • reviews • messages • inspections • issues • 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38728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4845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PROJECT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630168"/>
            <a:ext cx="2971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D30"/>
                </a:solidFill>
                <a:latin typeface="Aptos"/>
              </a:rPr>
              <a:t>What is happening with this project?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63016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Stages • budget • evidence • updates • team • issues • conversations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25112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34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UNIFIED INBOX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416552"/>
            <a:ext cx="2971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D30"/>
                </a:solidFill>
                <a:latin typeface="Aptos"/>
              </a:rPr>
              <a:t>What are people communicating about?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416552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WhatsApp • Jalla • email • calls • project context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11496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2122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SUPPORTING MODULES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5202936"/>
            <a:ext cx="2971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D30"/>
                </a:solidFill>
                <a:latin typeface="Aptos"/>
              </a:rPr>
              <a:t>Where do specialized workflows live?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20293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People • applications • quote requests • analytics •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GROUNDWORK • ADMIN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D30"/>
                </a:solidFill>
                <a:latin typeface="Aptos"/>
              </a:rPr>
              <a:t>Core Data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C7D"/>
                </a:solidFill>
                <a:latin typeface="Aptos"/>
              </a:rPr>
              <a:t>The project becomes the center of operational data; communication and activity attach to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202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D30"/>
                </a:solidFill>
                <a:latin typeface="Aptos"/>
              </a:rPr>
              <a:t>Client / Contractor / Agent /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9202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can participate in projects, conversations and tasks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10058400" cy="4572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054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0545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D30"/>
                </a:solidFill>
                <a:latin typeface="Aptos"/>
              </a:rPr>
              <a:t>Client + Contractor(s) +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50545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owns stages, budget, updates, inspections, issues and documents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871216"/>
            <a:ext cx="10058400" cy="4572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906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Project 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906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D30"/>
                </a:solidFill>
                <a:latin typeface="Aptos"/>
              </a:rPr>
              <a:t>Milestone +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30906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tracks status, dates, progress and approval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456432"/>
            <a:ext cx="10058400" cy="4572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7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Site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675887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D30"/>
                </a:solidFill>
                <a:latin typeface="Aptos"/>
              </a:rPr>
              <a:t>Evidence +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67588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photos, description, timestamp, location and verification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041648"/>
            <a:ext cx="10058400" cy="4572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611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Inspection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2611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D30"/>
                </a:solidFill>
                <a:latin typeface="Aptos"/>
              </a:rPr>
              <a:t>Checklist +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2611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can create issues or trigger stage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626864"/>
            <a:ext cx="10058400" cy="4572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Conversation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8463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D30"/>
                </a:solidFill>
                <a:latin typeface="Aptos"/>
              </a:rPr>
              <a:t>Person +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48463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stores WhatsApp/Jalla/email/call messages and internal notes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212080"/>
            <a:ext cx="10058400" cy="4572"/>
          </a:xfrm>
          <a:prstGeom prst="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4315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Activity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43153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D30"/>
                </a:solidFill>
                <a:latin typeface="Aptos"/>
              </a:rPr>
              <a:t>Any entity +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54315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unified audit/timeline event for important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GROUNDWORK • ADMIN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D30"/>
                </a:solidFill>
                <a:latin typeface="Aptos"/>
              </a:rPr>
              <a:t>End-to-End Project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C7D"/>
                </a:solidFill>
                <a:latin typeface="Aptos"/>
              </a:rPr>
              <a:t>The admin should make the operational lifecycle visible and actionable.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74E8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3055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Project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Client • location • plan • team • project configuration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659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74E8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3055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Milestones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3288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Stages • target dates • progress • approvals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74E8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13055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Site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53288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Updates • photos • GPS/time •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4047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74E8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005071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07407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Messages automatically linked to people and projects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84047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0233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74E8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005071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Budget &amp; 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407407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Confirmations • commitments • spend • payment milestones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84047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40233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74E8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005071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Resolution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407407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Issues • inspections • tasks • stage completion • handover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FUTURE-STATE UI • ILLUSTRATIVE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D30"/>
                </a:solidFill>
                <a:latin typeface="Aptos"/>
              </a:rPr>
              <a:t>Overview — Operations Control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Portfolio health, action queue, project pipeline, active projects and recent activity in one 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110185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tGPT Image Sep 11, 2026, 05_32_41 PM (3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19072"/>
            <a:ext cx="10716768" cy="44439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6C7D"/>
                </a:solidFill>
                <a:latin typeface="Aptos"/>
              </a:rPr>
              <a:t>Primary direction: make Overview operational, not just a collection of KPI cards.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FUTURE-STATE UI • ILLUSTRATIVE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D30"/>
                </a:solidFill>
                <a:latin typeface="Aptos"/>
              </a:rPr>
              <a:t>Overview — Detailed Portfolio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A denser portfolio view for projects, attention items, inspections, applications and location.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110185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tGPT Image Sep 11, 2026, 05_32_48 PM (5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19072"/>
            <a:ext cx="10716768" cy="44439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6C7D"/>
                </a:solidFill>
                <a:latin typeface="Aptos"/>
              </a:rPr>
              <a:t>Alternative light-mode direction showing how the dashboard can support day-to-day portfolio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FUTURE-STATE UI • ILLUSTRATIVE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D30"/>
                </a:solidFill>
                <a:latin typeface="Aptos"/>
              </a:rPr>
              <a:t>Overview — Executive / Reporting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A reporting-oriented variation with status, pipeline, recent projects, applications and communications.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110185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tGPT Image Sep 11, 2026, 05_32_46 PM 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19072"/>
            <a:ext cx="10716768" cy="44439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6C7D"/>
                </a:solidFill>
                <a:latin typeface="Aptos"/>
              </a:rPr>
              <a:t>Useful for leadership visibility while preserving links back to operational workflows.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FUTURE-STATE UI • ILLUSTRATIVE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D30"/>
                </a:solidFill>
                <a:latin typeface="Aptos"/>
              </a:rPr>
              <a:t>Overview — Dark Operations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A high-density operations console for teams managing a large active project portfolio.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110185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tGPT Image Sep 11, 2026, 05_32_35 PM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19072"/>
            <a:ext cx="10716768" cy="44439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6C7D"/>
                </a:solidFill>
                <a:latin typeface="Aptos"/>
              </a:rPr>
              <a:t>Dark-mode alternative: stronger visual hierarchy for an operations-heavy environment.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FUTURE-STATE UI • ILLUSTRATIVE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D30"/>
                </a:solidFill>
                <a:latin typeface="Aptos"/>
              </a:rPr>
              <a:t>Project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Every active project gets one operational home for setup, milestones, budget, evidence, team, issues and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110185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tGPT Image Sep 11, 2026, 05_32_50 PM (6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19072"/>
            <a:ext cx="10716768" cy="44439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6C7D"/>
                </a:solidFill>
                <a:latin typeface="Aptos"/>
              </a:rPr>
              <a:t>Central project record: the key foundation for making hundreds of projects operational.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FUTURE-STATE UI • ILLUSTRATIVE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D30"/>
                </a:solidFill>
                <a:latin typeface="Aptos"/>
              </a:rPr>
              <a:t>Unified Communication / Inbox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WhatsApp, Jalla, email and calls become one communication workspace with project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110185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tGPT Image Sep 11, 2026, 05_32_54 PM (7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19072"/>
            <a:ext cx="10716768" cy="44439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6C7D"/>
                </a:solidFill>
                <a:latin typeface="Aptos"/>
              </a:rPr>
              <a:t>Communication is tied back to the project so admins can act without switching between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GROUNDWORK • ADMIN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D30"/>
                </a:solidFill>
                <a:latin typeface="Aptos"/>
              </a:rPr>
              <a:t>How Existing Modules Will Be Refactored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C7D"/>
                </a:solidFill>
                <a:latin typeface="Aptos"/>
              </a:rPr>
              <a:t>The modules remain — but they become specialized views around the two central concepts.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6596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11D30"/>
                </a:solidFill>
                <a:latin typeface="Aptos"/>
              </a:rPr>
              <a:t>Portfolio + project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9476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Every project opens into the full operational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Reviews &amp;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96596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11D30"/>
                </a:solidFill>
                <a:latin typeface="Aptos"/>
              </a:rPr>
              <a:t>Global review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19476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Click-through to the relevant project stage.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97479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0720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Budgets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7889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11D30"/>
                </a:solidFill>
                <a:latin typeface="Aptos"/>
              </a:rPr>
              <a:t>Financial queue + project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7706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Budget actions connect to project milestones and payment workflows.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697479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80720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Site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7889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11D30"/>
                </a:solidFill>
                <a:latin typeface="Aptos"/>
              </a:rPr>
              <a:t>Evidence queue + project 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7706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Verification becomes visible and auditable.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520439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3016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Inspections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611879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11D30"/>
                </a:solidFill>
                <a:latin typeface="Aptos"/>
              </a:rPr>
              <a:t>Schedule +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59359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Inspection outcomes can create issues or trigger reviews.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520439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63016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Contractors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611879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11D30"/>
                </a:solidFill>
                <a:latin typeface="Aptos"/>
              </a:rPr>
              <a:t>Directory + contractor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59359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Contractors connect directly to applications, projects and conversations.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343400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45312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Applications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43484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11D30"/>
                </a:solidFill>
                <a:latin typeface="Aptos"/>
              </a:rPr>
              <a:t>Acquisition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44165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Applicant → review → acceptance → contractor profile.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343400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45312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Quote Requests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43484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11D30"/>
                </a:solidFill>
                <a:latin typeface="Aptos"/>
              </a:rPr>
              <a:t>Matching workflow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4165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Request → contractor introduction → conversation → project.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166360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27608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52578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11D30"/>
                </a:solidFill>
                <a:latin typeface="Aptos"/>
              </a:rPr>
              <a:t>Support queue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4760" y="52395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Tickets link to the customer and, where relevant, project.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5166360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27608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CRM / GHL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52578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11D30"/>
                </a:solidFill>
                <a:latin typeface="Aptos"/>
              </a:rPr>
              <a:t>Integration 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52395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GHL remains the communication/CRM layer; Groundwork remains the project operational source of truth.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GROUNDWORK • ADMIN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D30"/>
                </a:solidFill>
                <a:latin typeface="Aptos"/>
              </a:rPr>
              <a:t>Groundwork + GoHighLevel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C7D"/>
                </a:solidFill>
                <a:latin typeface="Aptos"/>
              </a:rPr>
              <a:t>Preserve the existing integration while making synchronization visible and reliable.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4937760" cy="3474720"/>
          </a:xfrm>
          <a:prstGeom prst="roundRect">
            <a:avLst/>
          </a:prstGeom>
          <a:solidFill>
            <a:srgbClr val="111D30"/>
          </a:solidFill>
          <a:ln>
            <a:solidFill>
              <a:srgbClr val="11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GROUNDWORK / SUPABASE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697480"/>
            <a:ext cx="4114800" cy="274320"/>
          </a:xfrm>
          <a:prstGeom prst="roundRect">
            <a:avLst/>
          </a:prstGeom>
          <a:solidFill>
            <a:srgbClr val="223048"/>
          </a:solidFill>
          <a:ln>
            <a:solidFill>
              <a:srgbClr val="22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52344"/>
            <a:ext cx="4114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D2DEF0"/>
                </a:solidFill>
                <a:latin typeface="Aptos"/>
              </a:rPr>
              <a:t>Projects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081528"/>
            <a:ext cx="4114800" cy="274320"/>
          </a:xfrm>
          <a:prstGeom prst="roundRect">
            <a:avLst/>
          </a:prstGeom>
          <a:solidFill>
            <a:srgbClr val="223048"/>
          </a:solidFill>
          <a:ln>
            <a:solidFill>
              <a:srgbClr val="22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36391"/>
            <a:ext cx="4114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D2DEF0"/>
                </a:solidFill>
                <a:latin typeface="Aptos"/>
              </a:rPr>
              <a:t>Stages &amp; reviews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465576"/>
            <a:ext cx="4114800" cy="274320"/>
          </a:xfrm>
          <a:prstGeom prst="roundRect">
            <a:avLst/>
          </a:prstGeom>
          <a:solidFill>
            <a:srgbClr val="223048"/>
          </a:solidFill>
          <a:ln>
            <a:solidFill>
              <a:srgbClr val="22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20439"/>
            <a:ext cx="4114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D2DEF0"/>
                </a:solidFill>
                <a:latin typeface="Aptos"/>
              </a:rPr>
              <a:t>Budgets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849624"/>
            <a:ext cx="4114800" cy="274320"/>
          </a:xfrm>
          <a:prstGeom prst="roundRect">
            <a:avLst/>
          </a:prstGeom>
          <a:solidFill>
            <a:srgbClr val="223048"/>
          </a:solidFill>
          <a:ln>
            <a:solidFill>
              <a:srgbClr val="22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04487"/>
            <a:ext cx="4114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D2DEF0"/>
                </a:solidFill>
                <a:latin typeface="Aptos"/>
              </a:rPr>
              <a:t>Site updates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233672"/>
            <a:ext cx="4114800" cy="274320"/>
          </a:xfrm>
          <a:prstGeom prst="roundRect">
            <a:avLst/>
          </a:prstGeom>
          <a:solidFill>
            <a:srgbClr val="223048"/>
          </a:solidFill>
          <a:ln>
            <a:solidFill>
              <a:srgbClr val="22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88536"/>
            <a:ext cx="4114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D2DEF0"/>
                </a:solidFill>
                <a:latin typeface="Aptos"/>
              </a:rPr>
              <a:t>Inspections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617720"/>
            <a:ext cx="4114800" cy="274320"/>
          </a:xfrm>
          <a:prstGeom prst="roundRect">
            <a:avLst/>
          </a:prstGeom>
          <a:solidFill>
            <a:srgbClr val="223048"/>
          </a:solidFill>
          <a:ln>
            <a:solidFill>
              <a:srgbClr val="22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672583"/>
            <a:ext cx="4114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D2DEF0"/>
                </a:solidFill>
                <a:latin typeface="Aptos"/>
              </a:rPr>
              <a:t>Project relationships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674E8"/>
                </a:solidFill>
                <a:latin typeface="Aptos"/>
              </a:rPr>
              <a:t>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920240"/>
            <a:ext cx="4937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212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11D30"/>
                </a:solidFill>
                <a:latin typeface="Aptos"/>
              </a:rPr>
              <a:t>GOHIGHLEVEL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2697480"/>
            <a:ext cx="4114800" cy="274320"/>
          </a:xfrm>
          <a:prstGeom prst="roundRect">
            <a:avLst/>
          </a:prstGeom>
          <a:solidFill>
            <a:srgbClr val="F4F7FC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752344"/>
            <a:ext cx="4114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11D30"/>
                </a:solidFill>
                <a:latin typeface="Aptos"/>
              </a:rPr>
              <a:t>CRM contacts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3081528"/>
            <a:ext cx="4114800" cy="274320"/>
          </a:xfrm>
          <a:prstGeom prst="roundRect">
            <a:avLst/>
          </a:prstGeom>
          <a:solidFill>
            <a:srgbClr val="F4F7FC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136391"/>
            <a:ext cx="4114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11D30"/>
                </a:solidFill>
                <a:latin typeface="Aptos"/>
              </a:rPr>
              <a:t>WhatsApp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465576"/>
            <a:ext cx="4114800" cy="274320"/>
          </a:xfrm>
          <a:prstGeom prst="roundRect">
            <a:avLst/>
          </a:prstGeom>
          <a:solidFill>
            <a:srgbClr val="F4F7FC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520439"/>
            <a:ext cx="4114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11D30"/>
                </a:solidFill>
                <a:latin typeface="Aptos"/>
              </a:rPr>
              <a:t>Email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3849624"/>
            <a:ext cx="4114800" cy="274320"/>
          </a:xfrm>
          <a:prstGeom prst="roundRect">
            <a:avLst/>
          </a:prstGeom>
          <a:solidFill>
            <a:srgbClr val="F4F7FC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904487"/>
            <a:ext cx="4114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11D30"/>
                </a:solidFill>
                <a:latin typeface="Aptos"/>
              </a:rPr>
              <a:t>Calls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4233672"/>
            <a:ext cx="4114800" cy="274320"/>
          </a:xfrm>
          <a:prstGeom prst="roundRect">
            <a:avLst/>
          </a:prstGeom>
          <a:solidFill>
            <a:srgbClr val="F4F7FC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288536"/>
            <a:ext cx="4114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11D30"/>
                </a:solidFill>
                <a:latin typeface="Aptos"/>
              </a:rPr>
              <a:t>Pipeline / automations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4617720"/>
            <a:ext cx="4114800" cy="274320"/>
          </a:xfrm>
          <a:prstGeom prst="roundRect">
            <a:avLst/>
          </a:prstGeom>
          <a:solidFill>
            <a:srgbClr val="F4F7FC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672583"/>
            <a:ext cx="4114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11D30"/>
                </a:solidFill>
                <a:latin typeface="Aptos"/>
              </a:rPr>
              <a:t>External IDs / sync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F6C7D"/>
                </a:solidFill>
                <a:latin typeface="Aptos"/>
              </a:rPr>
              <a:t>Principle: do not replace GHL or duplicate its conversation system. Build a reliable bridge and attach communication to Groundwork projects.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GROUNDWORK • ADMIN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D30"/>
                </a:solidFill>
                <a:latin typeface="Aptos"/>
              </a:rPr>
              <a:t>90-Day 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C7D"/>
                </a:solidFill>
                <a:latin typeface="Aptos"/>
              </a:rPr>
              <a:t>Sequence the build around the operational outcome.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Days 1–15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Audit +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Repository, database, auth, RLS, GHL, webhooks, existing routes and real data relationships.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2024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7568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Days 16–30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23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Overview + Action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Real-data aggregation, portfolio health, queues, activity and attention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2024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07568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Days 31–50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423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Project 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74320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Project setup, stages, milestones, budget, evidence, updates, inspections and activity.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404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959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Days 51–65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Unified Inbox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6344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WhatsApp/email/Jalla/calls, project context, assignment, internal notes and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8404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959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Days 66–80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3434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Refactor 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66344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Reviews, budgets, contractors, applications, quote requests and support around the new core.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8404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9959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4E8"/>
                </a:solidFill>
                <a:latin typeface="Aptos"/>
              </a:rPr>
              <a:t>Days 81–90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3434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D30"/>
                </a:solidFill>
                <a:latin typeface="Aptos"/>
              </a:rPr>
              <a:t>Hardening + rollout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66344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6C7D"/>
                </a:solidFill>
                <a:latin typeface="Aptos"/>
              </a:rPr>
              <a:t>Permissions, realtime, GHL sync reliability, QA, performance, migration and team adoption.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4E8"/>
                </a:solidFill>
                <a:latin typeface="Aptos"/>
              </a:rPr>
              <a:t>GROUNDWORK • ADMIN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D30"/>
                </a:solidFill>
                <a:latin typeface="Aptos"/>
              </a:rPr>
              <a:t>Definition of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C7D"/>
                </a:solidFill>
                <a:latin typeface="Aptos"/>
              </a:rPr>
              <a:t>Success is measured by operational workflows functioning on real projects.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9D64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74519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D30"/>
                </a:solidFill>
                <a:latin typeface="Aptos"/>
              </a:rPr>
              <a:t>Existing active projects can be fully configured and managed in Groundwork.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8658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9D64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8658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D30"/>
                </a:solidFill>
                <a:latin typeface="Aptos"/>
              </a:rPr>
              <a:t>Milestones and stages have clear status, dates, ownership and review/approval states.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9864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9D64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898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D30"/>
                </a:solidFill>
                <a:latin typeface="Aptos"/>
              </a:rPr>
              <a:t>Site updates and verification evidence are captured and traceable to the project.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1071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9D64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071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D30"/>
                </a:solidFill>
                <a:latin typeface="Aptos"/>
              </a:rPr>
              <a:t>Budget and payment actions are connected to project context and approvals.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2277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9D64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922776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D30"/>
                </a:solidFill>
                <a:latin typeface="Aptos"/>
              </a:rPr>
              <a:t>Client / contractor communication is accessible through the admin with project context.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9D64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43484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D30"/>
                </a:solidFill>
                <a:latin typeface="Aptos"/>
              </a:rPr>
              <a:t>Pending work is surfaced through the Action Center instead of being hidden across modules.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4690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9D64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94690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C7D"/>
                </a:solidFill>
                <a:latin typeface="Aptos"/>
              </a:rPr>
              <a:t>Existing GHL integration and webhooks continue working without duplicate or lost conversations.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5896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9D64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45896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C7D"/>
                </a:solidFill>
                <a:latin typeface="Aptos"/>
              </a:rPr>
              <a:t>No mock datasets or hard-coded operational metrics are used in the final implementation.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7B9FF"/>
                </a:solidFill>
                <a:latin typeface="Aptos"/>
              </a:rPr>
              <a:t>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A Groundwork admin that can actually run the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CE4F0"/>
                </a:solidFill>
                <a:latin typeface="Aptos"/>
              </a:rPr>
              <a:t>The redesign is the operational layer that enables the 90-day OKR: hundreds of active projects moving through setup, milestones, verification, updates and payments — end to 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77639"/>
            <a:ext cx="10561320" cy="1234440"/>
          </a:xfrm>
          <a:prstGeom prst="roundRect">
            <a:avLst/>
          </a:prstGeom>
          <a:solidFill>
            <a:srgbClr val="1C2B43"/>
          </a:solidFill>
          <a:ln>
            <a:solidFill>
              <a:srgbClr val="37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2976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Build the system around the work — then let the UI make that work visible.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6A6BB"/>
                </a:solidFill>
                <a:latin typeface="Aptos"/>
              </a:rPr>
              <a:t>Groundwork by Jalla • 90-Day Admin Platform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